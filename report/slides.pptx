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5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7F7F7F"/>
                </a:solidFill>
                <a:latin typeface="Calibri"/>
              </a:rPr>
              <a:t>CY315  ·  Wireless and Mobile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 i="0">
                <a:solidFill>
                  <a:srgbClr val="1F4E79"/>
                </a:solidFill>
                <a:latin typeface="Calibri"/>
              </a:rPr>
              <a:t>Defending the Wiretap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1">
                <a:solidFill>
                  <a:srgbClr val="1A1A1A"/>
                </a:solidFill>
                <a:latin typeface="Calibri"/>
              </a:rPr>
              <a:t>A deep-RL approach to artificial-noise power allocation  —  when Alice's intel on Eve is noisy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9377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Muhammad Ismail   ·   Abubakar Butt   ·   Usman 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406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2023453   ·   2023352   ·   2023581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problem we're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1">
                <a:solidFill>
                  <a:srgbClr val="1F4E79"/>
                </a:solidFill>
                <a:latin typeface="Calibri"/>
              </a:rPr>
              <a:t>Wireless is broadcast.  Anything Alice transmits, Eve picks up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Standard fix: artificial noise (AN) sprayed into Bob's null space  —  Bob hears clean signal, Eve hears signal + jam.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The knob: how much power to put on the message vs the jamming.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The classic answer (Goel &amp; Negi, 2008): split it 50/50.  Safe but leaves performance on the table.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The textbook upgrade: optimise the split per channel.  Works great  —  IF Alice has perfect information about Eve.  She usually doesn't.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Plug noisy intel into the textbook optimiser  →  a confidently-wrong answer that performs WORSE than doing nothing.  We'll see this on the next plot.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Calibri"/>
              </a:rPr>
              <a:t>Slide 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setting  —  MISO wiretap channel</a:t>
            </a:r>
          </a:p>
          <a:p>
            <a:r>
              <a:rPr sz="1300" i="1">
                <a:solidFill>
                  <a:srgbClr val="E0E5EC"/>
                </a:solidFill>
                <a:latin typeface="Calibri"/>
              </a:rPr>
              <a:t>Alice (multi-antenna), Bob (legitimate), Eve (eavesdropper)</a:t>
            </a:r>
          </a:p>
        </p:txBody>
      </p:sp>
      <p:pic>
        <p:nvPicPr>
          <p:cNvPr id="4" name="Picture 3" descr="14_geometry_ske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7863840" cy="48062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Alice's intel on Eve is noisy:</a:t>
            </a:r>
          </a:p>
        </p:txBody>
      </p:sp>
      <p:pic>
        <p:nvPicPr>
          <p:cNvPr id="6" name="Picture 5" descr="eq04_c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691640"/>
            <a:ext cx="3840480" cy="37952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3108960"/>
            <a:ext cx="3383280" cy="2286000"/>
          </a:xfrm>
          <a:prstGeom prst="roundRect">
            <a:avLst/>
          </a:prstGeom>
          <a:solidFill>
            <a:srgbClr val="E5ECF3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32461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Calibri"/>
              </a:rPr>
              <a:t>κ  —  CSI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3703320"/>
            <a:ext cx="310896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κ = 1  →  perfect intel
κ = 0.4  →  realistic
            (our default)
κ = 0  →  pure guessing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760720"/>
            <a:ext cx="7863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1A1A1A"/>
                </a:solidFill>
                <a:latin typeface="Calibri"/>
              </a:rPr>
              <a:t>Green wedge = MRT beam at Bob.   Red hatched region = artificial-noise spray.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172200"/>
            <a:ext cx="7863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1A1A1A"/>
                </a:solidFill>
                <a:latin typeface="Calibri"/>
              </a:rPr>
              <a:t>The dial ρ controls how power is split between green (message) and red (jamming).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Calibri"/>
              </a:rPr>
              <a:t>Slide 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Two classical answers  —  and why both fall short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5029200"/>
          </a:xfrm>
          <a:prstGeom prst="roundRect">
            <a:avLst/>
          </a:prstGeom>
          <a:solidFill>
            <a:srgbClr val="E5ECF3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  <a:latin typeface="Calibri"/>
              </a:rPr>
              <a:t>Scheme 1  —  Fixed (Goel &amp; Negi, 2008)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512064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Always splits power 50/50.
Pros
    Cannot be misled by bad intel.
    Always returns a sensible answer.
Cons
    Sub-optimal whenever the channel is asymmetric.
    Leaves rate on the table at high SNR.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577840" cy="5029200"/>
          </a:xfrm>
          <a:prstGeom prst="roundRect">
            <a:avLst/>
          </a:prstGeom>
          <a:solidFill>
            <a:srgbClr val="FAE7E6"/>
          </a:solidFill>
          <a:ln w="15875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21207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C0504D"/>
                </a:solidFill>
                <a:latin typeface="Calibri"/>
              </a:rPr>
              <a:t>Scheme 2  —  Traditional optimiser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48840"/>
            <a:ext cx="5212079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Per-channel argmax of Rs against the noisy ĥE.
scipy bounded scalar (Brent's method).
Pros
    Provably optimal at κ = 1.
Cons
    Trusts ĥE blindly.  At low κ the noise gets amplified, and the optimiser confidently picks the WRONG ρ.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Calibri"/>
              </a:rPr>
              <a:t>Slide 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BEFORE vs AFTER our AI  —  same channels, same κ</a:t>
            </a:r>
          </a:p>
          <a:p>
            <a:r>
              <a:rPr sz="1300" i="1">
                <a:solidFill>
                  <a:srgbClr val="E0E5EC"/>
                </a:solidFill>
                <a:latin typeface="Calibri"/>
              </a:rPr>
              <a:t>Left: only existing schemes.  Right: with DQN added.</a:t>
            </a:r>
          </a:p>
        </p:txBody>
      </p:sp>
      <p:pic>
        <p:nvPicPr>
          <p:cNvPr id="4" name="Picture 3" descr="12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12880" cy="49621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E5ECF3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X axis  →  Transmit power, SNR in dB  (0 to 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5989320"/>
            <a:ext cx="57607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Y axis  →  Average secrecy rate  Rs (bits/s/Hz)  —  higher is better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1A1A1A"/>
                </a:solidFill>
                <a:latin typeface="Calibri"/>
              </a:rPr>
              <a:t>Left panel: Traditional (red) drops BELOW Fixed (grey) — trusting noisy intel hurts.    Right panel: DQN (green) holds at or above Fixed everywhere.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Calibri"/>
              </a:rPr>
              <a:t>Slide 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Our approach  —  train a policy that EXPECTS noisy intel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657600" cy="5029200"/>
          </a:xfrm>
          <a:prstGeom prst="roundRect">
            <a:avLst/>
          </a:prstGeom>
          <a:solidFill>
            <a:srgbClr val="E5ECF3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1F4E79"/>
                </a:solidFill>
                <a:latin typeface="Calibri"/>
              </a:rPr>
              <a:t>1.  Reframe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29184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Stop trying to find the closed-form optimum each call.
Instead, train a policy off-line, across MANY noisy-intel scenarios, that learns when to trust ĥE and when to fall back to safe defaults.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657600" cy="5029200"/>
          </a:xfrm>
          <a:prstGeom prst="roundRect">
            <a:avLst/>
          </a:prstGeom>
          <a:solidFill>
            <a:srgbClr val="E0F1E0"/>
          </a:solidFill>
          <a:ln w="15875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46304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2CA02C"/>
                </a:solidFill>
                <a:latin typeface="Calibri"/>
              </a:rPr>
              <a:t>2.  Two key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29184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Tell the agent how trustworthy its intel is  →  feed κ directly into its observation.
Tell it the channel geometry  →  feed the alignment between Bob's beam and the noisy Eve estimate.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80160"/>
            <a:ext cx="3657600" cy="5029200"/>
          </a:xfrm>
          <a:prstGeom prst="roundRect">
            <a:avLst/>
          </a:prstGeom>
          <a:solidFill>
            <a:srgbClr val="FAE7E6"/>
          </a:solidFill>
          <a:ln w="15875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46304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C0504D"/>
                </a:solidFill>
                <a:latin typeface="Calibri"/>
              </a:rPr>
              <a:t>3.  Single deployable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329184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ONE trained network handles every (SNR, κ) it sees in the test set.
No retuning, no re-optimising at run time.  A forward pass replaces an iterative solver.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Calibri"/>
              </a:rPr>
              <a:t>Slide 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What the agent sees, 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943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  <a:latin typeface="Calibri"/>
              </a:rPr>
              <a:t>State  —  7 numbers describing the 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3657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Bob's channel strength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75688"/>
            <a:ext cx="3657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75688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Eve's (noisy) channel strength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9736"/>
            <a:ext cx="3657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59736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Transmit SNR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43784"/>
            <a:ext cx="3657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43784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What it picked last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27832"/>
            <a:ext cx="3657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27832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How it scored last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11879"/>
            <a:ext cx="3657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11879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κ  —  intel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95928"/>
            <a:ext cx="3657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95928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α  —  beam-vs-Eve 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7F7F7F"/>
                </a:solidFill>
                <a:latin typeface="Calibri"/>
              </a:rPr>
              <a:t>(α formally:)</a:t>
            </a:r>
          </a:p>
        </p:txBody>
      </p:sp>
      <p:pic>
        <p:nvPicPr>
          <p:cNvPr id="20" name="Picture 19" descr="eq06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40680"/>
            <a:ext cx="5029200" cy="127069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858000" y="1097280"/>
            <a:ext cx="4846320" cy="2286000"/>
          </a:xfrm>
          <a:prstGeom prst="roundRect">
            <a:avLst/>
          </a:prstGeom>
          <a:solidFill>
            <a:srgbClr val="E5ECF3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1280160"/>
            <a:ext cx="448055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  <a:latin typeface="Calibri"/>
              </a:rP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874519"/>
            <a:ext cx="4480559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Pick one of 17 candidate splits between message and AN  (steps of 0.05).
Discrete  →  light DQN architecture, fast inference.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3566160"/>
            <a:ext cx="4846320" cy="2743200"/>
          </a:xfrm>
          <a:prstGeom prst="roundRect">
            <a:avLst/>
          </a:prstGeom>
          <a:solidFill>
            <a:srgbClr val="E0F1E0"/>
          </a:solidFill>
          <a:ln w="15875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3749039"/>
            <a:ext cx="448055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2CA02C"/>
                </a:solidFill>
                <a:latin typeface="Calibri"/>
              </a:rPr>
              <a:t>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343400"/>
            <a:ext cx="4480559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Small feed-forward net, 7 inputs  →  17 Q-values.
Greedy at test time:  pick the highest-Q action.
Trained with Huber loss + Adam over 7000 episodes.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Calibri"/>
              </a:rPr>
              <a:t>Slide 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Training  —  one decision per channel, 7000 channels</a:t>
            </a:r>
          </a:p>
        </p:txBody>
      </p:sp>
      <p:pic>
        <p:nvPicPr>
          <p:cNvPr id="4" name="Picture 3" descr="13_training_curv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766560" cy="37423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7F7F7F"/>
                </a:solidFill>
                <a:latin typeface="Calibri"/>
              </a:rPr>
              <a:t>Smoothed running-average reward climbs as ε decays to 0.05; policy stabilises in the second half.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097280"/>
            <a:ext cx="4297680" cy="1554480"/>
          </a:xfrm>
          <a:prstGeom prst="roundRect">
            <a:avLst/>
          </a:prstGeom>
          <a:solidFill>
            <a:srgbClr val="E5ECF3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234440"/>
            <a:ext cx="4297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1F4E79"/>
                </a:solidFill>
                <a:latin typeface="Calibri"/>
              </a:rPr>
              <a:t>7000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057400"/>
            <a:ext cx="4297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 i="1">
                <a:solidFill>
                  <a:srgbClr val="1A1A1A"/>
                </a:solidFill>
                <a:latin typeface="Calibri"/>
              </a:rPr>
              <a:t>training episodes per 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2788920"/>
            <a:ext cx="4297680" cy="1554480"/>
          </a:xfrm>
          <a:prstGeom prst="roundRect">
            <a:avLst/>
          </a:prstGeom>
          <a:solidFill>
            <a:srgbClr val="E0F1E0"/>
          </a:solidFill>
          <a:ln w="15875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2926080"/>
            <a:ext cx="4297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2CA02C"/>
                </a:solidFill>
                <a:latin typeface="Calibri"/>
              </a:rPr>
              <a:t>≈ 38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749039"/>
            <a:ext cx="4297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 i="1">
                <a:solidFill>
                  <a:srgbClr val="1A1A1A"/>
                </a:solidFill>
                <a:latin typeface="Calibri"/>
              </a:rPr>
              <a:t>training cost on a single CPU 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4480560"/>
            <a:ext cx="4297680" cy="1554480"/>
          </a:xfrm>
          <a:prstGeom prst="roundRect">
            <a:avLst/>
          </a:prstGeom>
          <a:solidFill>
            <a:srgbClr val="FAE7E6"/>
          </a:solidFill>
          <a:ln w="15875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4617720"/>
            <a:ext cx="4297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800" b="1" i="0">
                <a:solidFill>
                  <a:srgbClr val="C0504D"/>
                </a:solidFill>
                <a:latin typeface="Calibri"/>
              </a:rPr>
              <a:t>Nt ∈ {2, 4, 8}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440680"/>
            <a:ext cx="4297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 i="1">
                <a:solidFill>
                  <a:srgbClr val="1A1A1A"/>
                </a:solidFill>
                <a:latin typeface="Calibri"/>
              </a:rPr>
              <a:t>three independent models, identical hyperparams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Calibri"/>
              </a:rPr>
              <a:t>Slide 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Headline result  —  three schemes, same channels</a:t>
            </a:r>
          </a:p>
          <a:p>
            <a:r>
              <a:rPr sz="1300" i="1">
                <a:solidFill>
                  <a:srgbClr val="E0E5EC"/>
                </a:solidFill>
                <a:latin typeface="Calibri"/>
              </a:rPr>
              <a:t>κ = 0.4, Nt = 4, 400 unseen channels per SNR point</a:t>
            </a:r>
          </a:p>
        </p:txBody>
      </p:sp>
      <p:pic>
        <p:nvPicPr>
          <p:cNvPr id="4" name="Picture 3" descr="04_three_schem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097280"/>
            <a:ext cx="7315200" cy="5413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53212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X axis  →  Transmit SNR (dB)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553212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Top Y  →  absolute Rs (bits/s/Hz);   Bottom Y  →  gain over Fixed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 i="1">
                <a:solidFill>
                  <a:srgbClr val="1A1A1A"/>
                </a:solidFill>
                <a:latin typeface="Calibri"/>
              </a:rPr>
              <a:t>DQN (green) sits at or above the Fixed baseline (grey) everywhere.  Traditional (red, dashed) drops below.  Same model, no retuning per SNR.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Calibri"/>
              </a:rPr>
              <a:t>Slide 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Robustness  —  the κ sweep and the outage curve</a:t>
            </a:r>
          </a:p>
        </p:txBody>
      </p:sp>
      <p:pic>
        <p:nvPicPr>
          <p:cNvPr id="4" name="Picture 3" descr="06_kappa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852160" cy="3580145"/>
          </a:xfrm>
          <a:prstGeom prst="rect">
            <a:avLst/>
          </a:prstGeom>
        </p:spPr>
      </p:pic>
      <p:pic>
        <p:nvPicPr>
          <p:cNvPr id="5" name="Picture 4" descr="08_secrecy_ou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097280"/>
            <a:ext cx="5212080" cy="31885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349240"/>
            <a:ext cx="5852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F4E79"/>
                </a:solidFill>
                <a:latin typeface="Calibri"/>
              </a:rPr>
              <a:t>X →  CSI quality κ ∈ [0, 1]    Y →  Rs (bits/s/Hz)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534924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F4E79"/>
                </a:solidFill>
                <a:latin typeface="Calibri"/>
              </a:rPr>
              <a:t>X →  target rate R₀    Y →  outage P(Rs &lt; R₀)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760720"/>
            <a:ext cx="585216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1A1A1A"/>
                </a:solidFill>
                <a:latin typeface="Calibri"/>
              </a:rPr>
              <a:t>Drag κ from 1 → 0.  Traditional collapses below Fixed near κ ≈ 0.6.  DQN never does.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5760720"/>
            <a:ext cx="52120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1A1A1A"/>
                </a:solidFill>
                <a:latin typeface="Calibri"/>
              </a:rPr>
              <a:t>Outage at the same scenario.  At R₀ = 4 bits/s/Hz, DQN's outage ≈ 18% vs Traditional's ≈ 26%.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Calibri"/>
              </a:rPr>
              <a:t>Slide 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Live demo  —  Streamlit GUI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418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000" b="0" i="1">
                <a:solidFill>
                  <a:srgbClr val="1F4E79"/>
                </a:solidFill>
                <a:latin typeface="Calibri"/>
              </a:rPr>
              <a:t>Switching to the browser  —  same model, you drag the sliders.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240280" cy="4023360"/>
          </a:xfrm>
          <a:prstGeom prst="roundRect">
            <a:avLst/>
          </a:prstGeom>
          <a:solidFill>
            <a:srgbClr val="E5ECF3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E5C107"/>
                </a:solidFill>
                <a:latin typeface="Calibr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F4E79"/>
                </a:solidFill>
                <a:latin typeface="Calibri"/>
              </a:rPr>
              <a:t>Live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46120"/>
            <a:ext cx="196596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Pick (Nt, SNR, κ).  See three schemes compete side-by-side.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103120"/>
            <a:ext cx="2240280" cy="4023360"/>
          </a:xfrm>
          <a:prstGeom prst="roundRect">
            <a:avLst/>
          </a:prstGeom>
          <a:solidFill>
            <a:srgbClr val="E5ECF3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24028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E5C107"/>
                </a:solidFill>
                <a:latin typeface="Calibri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69748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F4E79"/>
                </a:solidFill>
                <a:latin typeface="Calibri"/>
              </a:rPr>
              <a:t>SNR sweep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3246120"/>
            <a:ext cx="196596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Hold κ, vary SNR.  Watch the curves spread or converge.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103120"/>
            <a:ext cx="2240280" cy="4023360"/>
          </a:xfrm>
          <a:prstGeom prst="roundRect">
            <a:avLst/>
          </a:prstGeom>
          <a:solidFill>
            <a:srgbClr val="E5ECF3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24028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E5C107"/>
                </a:solidFill>
                <a:latin typeface="Calibri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69748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F4E79"/>
                </a:solidFill>
                <a:latin typeface="Calibri"/>
              </a:rPr>
              <a:t>κ sweep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246120"/>
            <a:ext cx="196596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Hold SNR, slide κ from 1 → 0.  The headline story, live.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59" y="2103120"/>
            <a:ext cx="2240280" cy="4023360"/>
          </a:xfrm>
          <a:prstGeom prst="roundRect">
            <a:avLst/>
          </a:prstGeom>
          <a:solidFill>
            <a:srgbClr val="E5ECF3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59" y="224028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E5C107"/>
                </a:solidFill>
                <a:latin typeface="Calibri"/>
              </a:rPr>
              <a:t>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269748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F4E79"/>
                </a:solidFill>
                <a:latin typeface="Calibri"/>
              </a:rPr>
              <a:t>Outage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3246120"/>
            <a:ext cx="196596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Empirical CDF.  How often each scheme misses the target rate.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2103120"/>
            <a:ext cx="2240280" cy="4023360"/>
          </a:xfrm>
          <a:prstGeom prst="roundRect">
            <a:avLst/>
          </a:prstGeom>
          <a:solidFill>
            <a:srgbClr val="E5ECF3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24028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E5C107"/>
                </a:solidFill>
                <a:latin typeface="Calibri"/>
              </a:rPr>
              <a:t>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69748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F4E79"/>
                </a:solidFill>
                <a:latin typeface="Calibri"/>
              </a:rPr>
              <a:t>Geometry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3246120"/>
            <a:ext cx="196596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Conceptual sketch  —  Alice's beam, AN, Bob, Eve.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550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 i="1">
                <a:solidFill>
                  <a:srgbClr val="7F7F7F"/>
                </a:solidFill>
                <a:latin typeface="Calibri"/>
              </a:rPr>
              <a:t>▶  streamlit run app/streamlit_app.py     (default Nt = 8 — where the win is biggest)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Calibri"/>
              </a:rPr>
              <a:t>Slide 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657600" cy="5029200"/>
          </a:xfrm>
          <a:prstGeom prst="roundRect">
            <a:avLst/>
          </a:prstGeom>
          <a:solidFill>
            <a:srgbClr val="FAE7E6"/>
          </a:solidFill>
          <a:ln w="15875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C0504D"/>
                </a:solidFill>
                <a:latin typeface="Calibri"/>
              </a:rPr>
              <a:t>1. 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29184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Plugging noisy intel into the textbook AN-allocation optimiser produces a confidently-wrong split.
It actively underperforms the do-nothing baseline once intel quality drops below ~ 0.6.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657600" cy="5029200"/>
          </a:xfrm>
          <a:prstGeom prst="roundRect">
            <a:avLst/>
          </a:prstGeom>
          <a:solidFill>
            <a:srgbClr val="E5ECF3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41732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1F4E79"/>
                </a:solidFill>
                <a:latin typeface="Calibri"/>
              </a:rPr>
              <a:t>2.  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29184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Train a small DQN over random intel-quality scenarios.
Feed the agent its own intel quality and a beam-alignment cue, so it knows when to trust the estimate and when to retreat to a safe default.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80160"/>
            <a:ext cx="3657600" cy="5029200"/>
          </a:xfrm>
          <a:prstGeom prst="roundRect">
            <a:avLst/>
          </a:prstGeom>
          <a:solidFill>
            <a:srgbClr val="E0F1E0"/>
          </a:solidFill>
          <a:ln w="15875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41732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2CA02C"/>
                </a:solidFill>
                <a:latin typeface="Calibri"/>
              </a:rPr>
              <a:t>3. 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329184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ONE trained policy beats the noisy-CSI optimiser at every Nt and every κ in the test set.
Lower outage at the same target rate.
≈ 38 s training cost.  Single-pass inference.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Calibri"/>
              </a:rPr>
              <a:t>Slide 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Thank you  — 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000" b="0" i="1">
                <a:solidFill>
                  <a:srgbClr val="E5C107"/>
                </a:solidFill>
                <a:latin typeface="Calibri"/>
              </a:rPr>
              <a:t>github.com/MuhammadIsmail009/pls-dqn-miso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2628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0" i="0">
                <a:solidFill>
                  <a:srgbClr val="E0E5EC"/>
                </a:solidFill>
                <a:latin typeface="Calibri"/>
              </a:rPr>
              <a:t>Muhammad Ismail   ·   Abubakar Butt   ·   Usman Ali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/>
  <Words>0</Words>
  <Application/>
  <PresentationFormat/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  <dc:identifier/>
  <dc:language/>
  <cp:contentStatus/>
  <cp:version/>
</cp:coreProperties>
</file>